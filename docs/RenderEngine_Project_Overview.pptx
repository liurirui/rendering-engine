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652881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5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 ENGINE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384280" y="652881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75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640080"/>
            <a:ext cx="3749040" cy="3749040"/>
          </a:xfrm>
          <a:prstGeom prst="ellipse">
            <a:avLst/>
          </a:prstGeom>
          <a:solidFill>
            <a:srgbClr val="21D4FD">
              <a:alpha val="9000"/>
            </a:srgbClr>
          </a:solidFill>
          <a:ln w="25400">
            <a:solidFill>
              <a:srgbClr val="21D4FD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49640" y="1325880"/>
            <a:ext cx="2377440" cy="2377440"/>
          </a:xfrm>
          <a:prstGeom prst="ellipse">
            <a:avLst/>
          </a:prstGeom>
          <a:solidFill>
            <a:srgbClr val="4F8CFF">
              <a:alpha val="12000"/>
            </a:srgbClr>
          </a:solidFill>
          <a:ln w="12700">
            <a:solidFill>
              <a:srgbClr val="4F8CFF">
                <a:alpha val="4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4173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E9F2FF"/>
                </a:solidFill>
              </a:rPr>
              <a:t>Render Engine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694944" y="2395728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D4FD"/>
                </a:solidFill>
              </a:rPr>
              <a:t>项目功能 · 架构思路 · 渲染原理 · C++ 工程实践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04088" y="3035808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6A9C2"/>
                </a:solidFill>
              </a:rPr>
              <a:t>从 OpenGL 示例代码演进为中小型实时渲染引擎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3794760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3849624"/>
            <a:ext cx="859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C++11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47088" y="3794760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21D4FD">
              <a:alpha val="18000"/>
            </a:srgbClr>
          </a:solidFill>
          <a:ln w="12700">
            <a:solidFill>
              <a:srgbClr val="21D4FD">
                <a:alpha val="6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3849624"/>
            <a:ext cx="9966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D4FD"/>
                </a:solidFill>
              </a:rPr>
              <a:t>OpenGL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18104" y="37947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91256" y="3849624"/>
            <a:ext cx="1271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PBR + IBL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3794760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3849624"/>
            <a:ext cx="9966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Assimp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3794760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B78CFF">
              <a:alpha val="18000"/>
            </a:srgbClr>
          </a:solidFill>
          <a:ln w="12700">
            <a:solidFill>
              <a:srgbClr val="B78CFF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6752" y="3849624"/>
            <a:ext cx="1362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8CFF"/>
                </a:solidFill>
              </a:rPr>
              <a:t>RenderGraph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3232" y="49560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6A9C2"/>
                </a:solidFill>
              </a:rPr>
              <a:t>项目阶段总结 / 2026.08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01  项目定位与能力边界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目标不是堆效果，而是建立可持续扩展的实时渲染框架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30352" y="132588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1325880"/>
            <a:ext cx="54864" cy="187452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9047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项目定位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9280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学习型中小型实时渲染引擎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强调：资源复用、职责边界、可诊断性、渲染流程模块化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25112" y="132588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5112" y="1325880"/>
            <a:ext cx="54864" cy="187452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49047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资产输入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189280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OBJ / FBX / GLB / GLTF / DAE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外部贴图 + GLB Embedded Image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PBR 与旧材质兼容转换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19872" y="132588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325880"/>
            <a:ext cx="54864" cy="187452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9047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画面能力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189280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Metallic-Roughness PBR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IBL · HDR · Shadow · Point Light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Bloom 与多种屏幕后处理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35204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520440"/>
            <a:ext cx="54864" cy="18745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685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工程能力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408736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CMake + Visual Studio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Debug / Release 构建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运行时 DLL 自动部署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25112" y="35204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5112" y="3520440"/>
            <a:ext cx="54864" cy="187452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3685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诊断能力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26280" y="408736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Shader 编译/链接日志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Framebuffer 完整性检查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OpenGL Debug Callback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19872" y="35204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3520440"/>
            <a:ext cx="54864" cy="187452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3685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工具能力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21040" y="408736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ImGui 参数面板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模型/贴图选择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后处理与曝光调节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02  总体分层架构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核心原则：Scene 管世界，Renderer 管帧流程，AssetManager 管资源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828800" cy="658368"/>
          </a:xfrm>
          <a:prstGeom prst="roundRect">
            <a:avLst/>
          </a:prstGeom>
          <a:solidFill>
            <a:srgbClr val="B78CFF">
              <a:alpha val="22000"/>
            </a:srgbClr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2646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2FF"/>
                </a:solidFill>
              </a:rPr>
              <a:t>Application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51760" y="123444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32588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GLFW Window / Input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3184" y="123444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54624" y="132588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ImGui Tools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674608" y="123444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66048" y="132588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Present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331720"/>
            <a:ext cx="1828800" cy="658368"/>
          </a:xfrm>
          <a:prstGeom prst="roundRect">
            <a:avLst/>
          </a:prstGeom>
          <a:solidFill>
            <a:srgbClr val="21D4FD">
              <a:alpha val="22000"/>
            </a:srgbClr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52374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2FF"/>
                </a:solidFill>
              </a:rPr>
              <a:t>Renderer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651760" y="233172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242316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MeshRenderer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10328" y="233172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1768" y="242316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RenderQueue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68896" y="233172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0336" y="242316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RenderGraph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427464" y="233172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18904" y="242316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RenderTarget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429000"/>
            <a:ext cx="1828800" cy="658368"/>
          </a:xfrm>
          <a:prstGeom prst="roundRect">
            <a:avLst/>
          </a:prstGeom>
          <a:solidFill>
            <a:srgbClr val="5EE2A0">
              <a:alpha val="22000"/>
            </a:srgbClr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62102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2FF"/>
                </a:solidFill>
              </a:rPr>
              <a:t>World &amp; Assets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51760" y="342900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52044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Scene / GameObject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0328" y="342900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01768" y="352044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Transform / Light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68896" y="342900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0336" y="352044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AssetManager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427464" y="342900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18904" y="352044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MaterialSystem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526280"/>
            <a:ext cx="1828800" cy="658368"/>
          </a:xfrm>
          <a:prstGeom prst="roundRect">
            <a:avLst/>
          </a:prstGeom>
          <a:solidFill>
            <a:srgbClr val="FFB45A">
              <a:alpha val="22000"/>
            </a:srgbClr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71830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2FF"/>
                </a:solidFill>
              </a:rPr>
              <a:t>Resources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651760" y="452628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461772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ModelAsset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910328" y="452628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01768" y="461772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MeshAsset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168896" y="452628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60336" y="461772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MaterialAsset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427464" y="452628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18904" y="461772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ShaderLibrary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48640" y="5623560"/>
            <a:ext cx="1828800" cy="658368"/>
          </a:xfrm>
          <a:prstGeom prst="roundRect">
            <a:avLst/>
          </a:prstGeom>
          <a:solidFill>
            <a:srgbClr val="4F8CFF">
              <a:alpha val="22000"/>
            </a:srgbClr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58155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2FF"/>
                </a:solidFill>
              </a:rPr>
              <a:t>RHI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651760" y="562356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0" y="571500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RenderContext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3184" y="562356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4624" y="571500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OpenGLRenderContext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8674608" y="562356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66048" y="571500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Texture / Buffer / FBO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463040" y="1920240"/>
            <a:ext cx="0" cy="36576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463040" y="3017520"/>
            <a:ext cx="0" cy="36576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463040" y="4114800"/>
            <a:ext cx="0" cy="36576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463040" y="5212080"/>
            <a:ext cx="0" cy="36576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03  一帧是怎样被渲染出来的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RenderGraph 负责组织 pass；RenderContext 负责提交底层命令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347472" y="1874520"/>
            <a:ext cx="1115568" cy="822960"/>
          </a:xfrm>
          <a:prstGeom prst="roundRect">
            <a:avLst>
              <a:gd name="adj" fmla="val 5556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9659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Input / UI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472184" y="2286000"/>
            <a:ext cx="27432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83080" y="1874520"/>
            <a:ext cx="1115568" cy="822960"/>
          </a:xfrm>
          <a:prstGeom prst="roundRect">
            <a:avLst>
              <a:gd name="adj" fmla="val 5556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74520" y="19659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Scene Update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907792" y="2286000"/>
            <a:ext cx="27432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18688" y="1874520"/>
            <a:ext cx="1115568" cy="822960"/>
          </a:xfrm>
          <a:prstGeom prst="roundRect">
            <a:avLst>
              <a:gd name="adj" fmla="val 5556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128" y="19659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Build Queue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2286000"/>
            <a:ext cx="27432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54296" y="1874520"/>
            <a:ext cx="1115568" cy="822960"/>
          </a:xfrm>
          <a:prstGeom prst="roundRect">
            <a:avLst>
              <a:gd name="adj" fmla="val 5556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5736" y="19659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Shadow Pass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79008" y="2286000"/>
            <a:ext cx="27432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89904" y="1874520"/>
            <a:ext cx="1115568" cy="822960"/>
          </a:xfrm>
          <a:prstGeom prst="roundRect">
            <a:avLst>
              <a:gd name="adj" fmla="val 5556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81344" y="19659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PBR Pass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14616" y="2286000"/>
            <a:ext cx="27432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25512" y="1874520"/>
            <a:ext cx="1115568" cy="822960"/>
          </a:xfrm>
          <a:prstGeom prst="roundRect">
            <a:avLst>
              <a:gd name="adj" fmla="val 5556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16952" y="19659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Bloom Chain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650224" y="2286000"/>
            <a:ext cx="27432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961120" y="1874520"/>
            <a:ext cx="1115568" cy="822960"/>
          </a:xfrm>
          <a:prstGeom prst="roundRect">
            <a:avLst>
              <a:gd name="adj" fmla="val 5556"/>
            </a:avLst>
          </a:prstGeom>
          <a:solidFill>
            <a:srgbClr val="FF6B7A">
              <a:alpha val="17000"/>
            </a:srgbClr>
          </a:solidFill>
          <a:ln w="15240">
            <a:solidFill>
              <a:srgbClr val="FF6B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52560" y="19659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Selected Effect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085832" y="2286000"/>
            <a:ext cx="27432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396728" y="1874520"/>
            <a:ext cx="1115568" cy="822960"/>
          </a:xfrm>
          <a:prstGeom prst="roundRect">
            <a:avLst>
              <a:gd name="adj" fmla="val 5556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88168" y="19659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Present / UI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14400" y="3383280"/>
            <a:ext cx="10332720" cy="1554480"/>
          </a:xfrm>
          <a:prstGeom prst="roundRect">
            <a:avLst/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300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D4FD"/>
                </a:solidFill>
              </a:rPr>
              <a:t>RenderGraph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423160" y="3657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F2FF"/>
                </a:solidFill>
              </a:rPr>
              <a:t>记录 pass lambda → 保持顺序 → execute(RenderContext*)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423160" y="4078224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当前是轻量顺序图；未来升级为显式资源依赖 DAG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72400" y="3639312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45552" y="3694176"/>
            <a:ext cx="9052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CPU 组织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006840" y="3639312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79992" y="3694176"/>
            <a:ext cx="9052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GPU 提交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60120" y="5394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6A9C2"/>
                </a:solidFill>
              </a:rPr>
              <a:t>输出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600200" y="5230368"/>
            <a:ext cx="1463040" cy="566928"/>
          </a:xfrm>
          <a:prstGeom prst="roundRect">
            <a:avLst>
              <a:gd name="adj" fmla="val 8065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91640" y="53218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HDR Color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383280" y="52303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53218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Depth / Shadow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349240" y="5230368"/>
            <a:ext cx="1508760" cy="566928"/>
          </a:xfrm>
          <a:prstGeom prst="roundRect">
            <a:avLst>
              <a:gd name="adj" fmla="val 8065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40680" y="53218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Post Output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178040" y="5230368"/>
            <a:ext cx="1463040" cy="566928"/>
          </a:xfrm>
          <a:prstGeom prst="roundRect">
            <a:avLst>
              <a:gd name="adj" fmla="val 8065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3218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Backbuffer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04  模型与资源加载链路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导入数据、运行时实例和 GPU 资源逐步解耦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Scene::createModel(path)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880360" y="137160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71800" y="1463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AssetManager Cache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120640" y="1371600"/>
            <a:ext cx="1645920" cy="685800"/>
          </a:xfrm>
          <a:prstGeom prst="roundRect">
            <a:avLst>
              <a:gd name="adj" fmla="val 6667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Assimp Importer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178040" y="1371600"/>
            <a:ext cx="1645920" cy="685800"/>
          </a:xfrm>
          <a:prstGeom prst="roundRect">
            <a:avLst>
              <a:gd name="adj" fmla="val 6667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6948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ModelAsset Tree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235440" y="1371600"/>
            <a:ext cx="1371600" cy="685800"/>
          </a:xfrm>
          <a:prstGeom prst="roundRect">
            <a:avLst>
              <a:gd name="adj" fmla="val 6667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Instantiate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927080" y="1371600"/>
            <a:ext cx="777240" cy="685800"/>
          </a:xfrm>
          <a:prstGeom prst="roundRect">
            <a:avLst>
              <a:gd name="adj" fmla="val 6667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018520" y="14630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Scene Objects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68880" y="1719072"/>
            <a:ext cx="3657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1719072"/>
            <a:ext cx="3657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766560" y="1719072"/>
            <a:ext cx="3657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823960" y="1719072"/>
            <a:ext cx="3657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607040" y="1719072"/>
            <a:ext cx="3657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66928" y="2788920"/>
            <a:ext cx="3520440" cy="2331720"/>
          </a:xfrm>
          <a:prstGeom prst="roundRect">
            <a:avLst>
              <a:gd name="adj" fmla="val 23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788920"/>
            <a:ext cx="54864" cy="233172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096" y="29535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Asset（可缓存/共享）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68096" y="3355848"/>
            <a:ext cx="3154680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ModelNodeAsset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localTransform / children / mesh indices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MeshAsset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CPU vertices / indices / local Bounds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MaterialAsset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ShaderHandle / factors / textures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43400" y="2788920"/>
            <a:ext cx="3520440" cy="2331720"/>
          </a:xfrm>
          <a:prstGeom prst="roundRect">
            <a:avLst>
              <a:gd name="adj" fmla="val 23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3400" y="2788920"/>
            <a:ext cx="54864" cy="233172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29535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Instance（场景状态）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44568" y="3355848"/>
            <a:ext cx="3154680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GameObject / Transform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parent-child hierarchy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runtime TRS + source matrix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Mesh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Bounds + MaterialAsset 引用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共享 MeshResource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19872" y="2788920"/>
            <a:ext cx="3520440" cy="2331720"/>
          </a:xfrm>
          <a:prstGeom prst="roundRect">
            <a:avLst>
              <a:gd name="adj" fmla="val 23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19872" y="2788920"/>
            <a:ext cx="54864" cy="233172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21040" y="29535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MeshResource（GPU 共享）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21040" y="3355848"/>
            <a:ext cx="3154680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AssetManager 首次加载时上传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VAO / VBO / IBO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vertex / index count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同模型多实例复用一份 GPU 几何，实例不再复制 CPU 顶点和索引。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05840" y="5623560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78992" y="5678424"/>
            <a:ext cx="11795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Model Cache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60320" y="56235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33472" y="5678424"/>
            <a:ext cx="1271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Texture Cache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24528" y="5623560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97680" y="5678424"/>
            <a:ext cx="1362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Embedded GLB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89320" y="5623560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21D4FD">
              <a:alpha val="18000"/>
            </a:srgbClr>
          </a:solidFill>
          <a:ln w="12700">
            <a:solidFill>
              <a:srgbClr val="21D4FD">
                <a:alpha val="6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5678424"/>
            <a:ext cx="22311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D4FD"/>
                </a:solidFill>
              </a:rPr>
              <a:t>OBJ / FBX / GLTF / DAE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05  场景对象与 Transform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保留模型作者矩阵，同时允许运行时编辑实例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029200" cy="1234440"/>
          </a:xfrm>
          <a:prstGeom prst="roundRect">
            <a:avLst>
              <a:gd name="adj" fmla="val 2963"/>
            </a:avLst>
          </a:prstGeom>
          <a:solidFill>
            <a:srgbClr val="050A12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90472"/>
            <a:ext cx="4663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B9D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LocalMatrix = RuntimeTRS × SourceLocalMatrix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9D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WorldMatrix = ParentWorldMatrix × LocalMatrix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2331720" cy="2148840"/>
          </a:xfrm>
          <a:prstGeom prst="roundRect">
            <a:avLst>
              <a:gd name="adj" fmla="val 25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880360"/>
            <a:ext cx="54864" cy="214884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04495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Source Matrix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447288"/>
            <a:ext cx="1965960" cy="1453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来自 FBX / glTF 节点层级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保存预旋转、缩放、坐标系转换和 DCC authored transform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82112" y="2880360"/>
            <a:ext cx="2331720" cy="2148840"/>
          </a:xfrm>
          <a:prstGeom prst="roundRect">
            <a:avLst>
              <a:gd name="adj" fmla="val 25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82112" y="2880360"/>
            <a:ext cx="54864" cy="214884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304495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Runtime TRS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3447288"/>
            <a:ext cx="1965960" cy="1453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localPosition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localRotation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localScale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由游戏逻辑或编辑器修改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92240" y="1371600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4630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Root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92240" y="2423160"/>
            <a:ext cx="1554480" cy="566928"/>
          </a:xfrm>
          <a:prstGeom prst="roundRect">
            <a:avLst>
              <a:gd name="adj" fmla="val 8065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Model Node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15000" y="3611880"/>
            <a:ext cx="1508760" cy="566928"/>
          </a:xfrm>
          <a:prstGeom prst="roundRect">
            <a:avLst>
              <a:gd name="adj" fmla="val 8065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06440" y="37033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 Node 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09560" y="3611880"/>
            <a:ext cx="1508760" cy="566928"/>
          </a:xfrm>
          <a:prstGeom prst="roundRect">
            <a:avLst>
              <a:gd name="adj" fmla="val 8065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01000" y="37033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 Node B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14032" y="1938528"/>
            <a:ext cx="0" cy="438912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49440" y="2999232"/>
            <a:ext cx="-548640" cy="566928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543800" y="2999232"/>
            <a:ext cx="1097280" cy="566928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738360" y="1371600"/>
            <a:ext cx="1874520" cy="361188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38360" y="1371600"/>
            <a:ext cx="54864" cy="361188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39528" y="153619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Scene 职责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39528" y="1938528"/>
            <a:ext cx="1508760" cy="29169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拥有对象树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更新 world matrix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管理灯光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保存 Asset 引用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提供 renderable list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不负责：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Shader 选择、材质绑定、pass 调度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06440" y="541324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6A9C2"/>
                </a:solidFill>
              </a:rPr>
              <a:t>骨骼动画接入后还需明确：Node Transform × Animation Pose × Inverse Bind Matrix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06  Material、Shader 与 Renderer 的职责边界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材质可以引用 Shader，但不直接拥有 GL program 或执行 GL 调用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011680" cy="1051560"/>
          </a:xfrm>
          <a:prstGeom prst="roundRect">
            <a:avLst>
              <a:gd name="adj" fmla="val 4348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MaterialAsset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ShaderHandle + Data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337560" y="1874520"/>
            <a:ext cx="2011680" cy="1051560"/>
          </a:xfrm>
          <a:prstGeom prst="roundRect">
            <a:avLst>
              <a:gd name="adj" fmla="val 4348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96596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ShaderLibrary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Handle → Program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0" y="1874520"/>
            <a:ext cx="2011680" cy="1051560"/>
          </a:xfrm>
          <a:prstGeom prst="roundRect">
            <a:avLst>
              <a:gd name="adj" fmla="val 4348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80760" y="196596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MeshRenderer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Pass Decision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641080" y="1874520"/>
            <a:ext cx="2148840" cy="1051560"/>
          </a:xfrm>
          <a:prstGeom prst="roundRect">
            <a:avLst>
              <a:gd name="adj" fmla="val 4348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32520" y="196596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MaterialSystem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Bind Uniform/Texture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97480" y="2395728"/>
            <a:ext cx="5943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349240" y="2395728"/>
            <a:ext cx="5943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001000" y="2395728"/>
            <a:ext cx="5943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5800" y="3703320"/>
            <a:ext cx="33375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703320"/>
            <a:ext cx="54864" cy="182880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38679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为什么这样拆分？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86968" y="4270248"/>
            <a:ext cx="29718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Shadow Pass 不需要绑定完整材质；Forward Pass 需要 PBR 数据。Renderer 根据 pass 决定流程，MaterialSystem 只负责数据映射。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07408" y="3703320"/>
            <a:ext cx="33375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07408" y="3703320"/>
            <a:ext cx="54864" cy="182880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08576" y="38679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类似 Unity 的地方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270248"/>
            <a:ext cx="29718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Unity Material 同样引用 Shader 和参数。区别在于引擎内部 Shader 资源由统一库管理，Material 保存的是句柄而不是裸 program。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0" y="3703320"/>
            <a:ext cx="33375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8160" y="3703320"/>
            <a:ext cx="54864" cy="182880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39328" y="38679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可扩展方向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39328" y="4270248"/>
            <a:ext cx="29718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Technique / ShaderPass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Forward / Shadow / DepthOnly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Shader Variant / Keyword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Hot Reload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07  Metallic-Roughness PBR 原理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直接光使用微表面 BRDF，间接光使用预计算 IBL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6858000" cy="841248"/>
          </a:xfrm>
          <a:prstGeom prst="roundRect">
            <a:avLst>
              <a:gd name="adj" fmla="val 4348"/>
            </a:avLst>
          </a:prstGeom>
          <a:solidFill>
            <a:srgbClr val="050A12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99032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B9D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= ∫ (kD · albedo / π + D·F·G / 4(N·V)(N·L)) · Li · (N·L) dω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24231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423160"/>
            <a:ext cx="54864" cy="182880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587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D · Normal Distribution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20574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GGX / Trowbridge-Reitz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描述微表面法线分布，高 roughness 产生更宽的高光。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73552" y="2423160"/>
            <a:ext cx="24231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73552" y="2423160"/>
            <a:ext cx="54864" cy="182880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2587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G · Geometry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990088"/>
            <a:ext cx="20574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Smith + Schlick-GGX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描述微表面的遮蔽与阴影。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07024" y="2423160"/>
            <a:ext cx="24231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07024" y="2423160"/>
            <a:ext cx="54864" cy="182880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2587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F · Fresnel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08192" y="2990088"/>
            <a:ext cx="20574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Schlick Approximation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控制视角相关反射；金属 F0 来自 albedo。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540496" y="2423160"/>
            <a:ext cx="28803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40496" y="2423160"/>
            <a:ext cx="54864" cy="182880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41664" y="2587752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材质输入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741664" y="2990088"/>
            <a:ext cx="25146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Base Color · Normal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Metallic · Roughness · AO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Emissive · Reflection Mask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4400" y="4846320"/>
            <a:ext cx="187452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901184"/>
            <a:ext cx="17282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glTF G = Roughness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017520" y="484632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90672" y="4901184"/>
            <a:ext cx="15910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glTF B = Metallic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983480" y="484632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56632" y="4901184"/>
            <a:ext cx="1271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sRGB → Linear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629400" y="4846320"/>
            <a:ext cx="2331720" cy="310896"/>
          </a:xfrm>
          <a:prstGeom prst="roundRect">
            <a:avLst>
              <a:gd name="adj" fmla="val 23529"/>
            </a:avLst>
          </a:prstGeom>
          <a:solidFill>
            <a:srgbClr val="21D4FD">
              <a:alpha val="18000"/>
            </a:srgbClr>
          </a:solidFill>
          <a:ln w="12700">
            <a:solidFill>
              <a:srgbClr val="21D4FD">
                <a:alpha val="6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2552" y="4901184"/>
            <a:ext cx="21854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D4FD"/>
                </a:solidFill>
              </a:rPr>
              <a:t>HDR → Tone Map → Gamma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4400" y="54864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6A9C2"/>
                </a:solidFill>
              </a:rPr>
              <a:t>旧式材质：shininess → roughness 近似转换，并继续读取 diffuse / normal / specular / AO / emissive。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08  IBL 预计算与运行时采样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把昂贵的环境积分前移到初始化阶段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00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HDR Equirectangular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331720" y="1901952"/>
            <a:ext cx="45720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34640" y="15087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600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Environment Cubemap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901952"/>
            <a:ext cx="45720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66360" y="15087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1600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Irradiance Map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95160" y="1901952"/>
            <a:ext cx="45720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98080" y="15087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600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Prefiltered Map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0" y="1901952"/>
            <a:ext cx="45720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29800" y="15087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21240" y="1600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BRDF LUT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2971800"/>
            <a:ext cx="3337560" cy="2148840"/>
          </a:xfrm>
          <a:prstGeom prst="roundRect">
            <a:avLst>
              <a:gd name="adj" fmla="val 25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71800"/>
            <a:ext cx="54864" cy="214884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13639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Diffuse IBL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5528" y="3538728"/>
            <a:ext cx="2971800" cy="1453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N → Irradiance Map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低频环境辐照度 × albedo，提供没有直接光时仍可信的环境漫反射。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25696" y="2971800"/>
            <a:ext cx="3337560" cy="2148840"/>
          </a:xfrm>
          <a:prstGeom prst="roundRect">
            <a:avLst>
              <a:gd name="adj" fmla="val 25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25696" y="2971800"/>
            <a:ext cx="54864" cy="214884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26864" y="313639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Specular IBL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26864" y="3538728"/>
            <a:ext cx="2971800" cy="1453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Reflection Vector + Roughness LOD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采样 Prefiltered Map，不同 mip 对应不同模糊程度。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57032" y="2971800"/>
            <a:ext cx="3337560" cy="2148840"/>
          </a:xfrm>
          <a:prstGeom prst="roundRect">
            <a:avLst>
              <a:gd name="adj" fmla="val 25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57032" y="2971800"/>
            <a:ext cx="54864" cy="214884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58200" y="313639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Split-Sum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458200" y="3538728"/>
            <a:ext cx="2971800" cy="1453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Prefiltered Color × BRDF LUT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LUT 用 N·V 和 roughness 查找预积分 BRDF 系数。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200400" y="56235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45A"/>
                </a:solidFill>
              </a:rPr>
              <a:t>初始化成本换取每帧性能：运行时只做少量纹理采样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09  灯光、阴影与后处理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光照解决“物理可信”，后处理解决“最终观感”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66160" cy="2057400"/>
          </a:xfrm>
          <a:prstGeom prst="roundRect">
            <a:avLst>
              <a:gd name="adj" fmla="val 266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25880"/>
            <a:ext cx="54864" cy="205740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904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方向光 + Shadow Map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892808"/>
            <a:ext cx="3200400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Depth-only Pass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Light Space Matrix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Polygon Offset + Bias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PCF Shadow Sampling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固定正交范围（待升级 CSM）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66160" cy="2057400"/>
          </a:xfrm>
          <a:prstGeom prst="roundRect">
            <a:avLst>
              <a:gd name="adj" fmla="val 266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15968" y="1325880"/>
            <a:ext cx="54864" cy="205740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7136" y="14904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有限范围点光源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17136" y="1892808"/>
            <a:ext cx="3200400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最多 4 个 Point Light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constant / linear / quadratic attenuation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range 平滑衰减，避免远距离染色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调试灯泡亮度与真实照明解耦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66160" cy="2057400"/>
          </a:xfrm>
          <a:prstGeom prst="roundRect">
            <a:avLst>
              <a:gd name="adj" fmla="val 266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25880"/>
            <a:ext cx="54864" cy="205740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4904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HDR 输出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66176" y="1892808"/>
            <a:ext cx="3200400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RGBA32F Scene Target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曝光控制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Exponential Tone Mapping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sRGB Gamma Correction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4069080"/>
            <a:ext cx="1417320" cy="594360"/>
          </a:xfrm>
          <a:prstGeom prst="roundRect">
            <a:avLst>
              <a:gd name="adj" fmla="val 7692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1605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Highlight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514600" y="40690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06040" y="41605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5× Downsample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0" y="40690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1605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5× Upsample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629400" y="4069080"/>
            <a:ext cx="1737360" cy="594360"/>
          </a:xfrm>
          <a:prstGeom prst="roundRect">
            <a:avLst>
              <a:gd name="adj" fmla="val 7692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Bloom Composite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78240" y="4069080"/>
            <a:ext cx="1600200" cy="594360"/>
          </a:xfrm>
          <a:prstGeom prst="roundRect">
            <a:avLst>
              <a:gd name="adj" fmla="val 7692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69680" y="416052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Selected Effect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4370832"/>
            <a:ext cx="384048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160520" y="4370832"/>
            <a:ext cx="384048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217920" y="4370832"/>
            <a:ext cx="384048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366760" y="4370832"/>
            <a:ext cx="384048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05840" y="5212080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5266944"/>
            <a:ext cx="11795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Radial Blur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51760" y="5212080"/>
            <a:ext cx="137160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24912" y="5266944"/>
            <a:ext cx="12252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Motion Blur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43400" y="5212080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16552" y="5266944"/>
            <a:ext cx="9966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Cartoon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06440" y="5212080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B78CFF">
              <a:alpha val="18000"/>
            </a:srgbClr>
          </a:solidFill>
          <a:ln w="12700">
            <a:solidFill>
              <a:srgbClr val="B78CFF">
                <a:alpha val="6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79592" y="5266944"/>
            <a:ext cx="9052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8CFF"/>
                </a:solidFill>
              </a:rPr>
              <a:t>Ripple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178040" y="5212080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21D4FD">
              <a:alpha val="18000"/>
            </a:srgbClr>
          </a:solidFill>
          <a:ln w="12700">
            <a:solidFill>
              <a:srgbClr val="21D4FD">
                <a:alpha val="6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51192" y="5266944"/>
            <a:ext cx="9052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D4FD"/>
                </a:solidFill>
              </a:rPr>
              <a:t>Bloom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10  本阶段升级：RenderTarget 资源化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将 FBO 描述、attachment 所有权和 resize 收敛到一个对象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7A"/>
                </a:solidFill>
              </a:rPr>
              <a:t>BEFORE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029200" cy="3291840"/>
          </a:xfrm>
          <a:prstGeom prst="roundRect">
            <a:avLst>
              <a:gd name="adj" fmla="val 166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54864" cy="32918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76479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Renderer 各自手工管理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167128"/>
            <a:ext cx="4663440" cy="2596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FrameBufferInfo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Texture2D* color / depth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Texture2D* bloom[5]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Texture2D* upsample[5]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resize() 手写列表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destructor 手写 delete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viewport 再从全局窗口计算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4652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2A0"/>
                </a:solidFill>
              </a:rPr>
              <a:t>AFTER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600200"/>
            <a:ext cx="5029200" cy="3291840"/>
          </a:xfrm>
          <a:prstGeom prst="roundRect">
            <a:avLst>
              <a:gd name="adj" fmla="val 166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600200"/>
            <a:ext cx="54864" cy="329184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7688" y="176479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RenderTarget 统一拥有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47688" y="2167128"/>
            <a:ext cx="4663440" cy="2596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RenderTargetDesc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format / sampler / clear action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width / height / debug name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RenderTarget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unique_ptr&lt;Texture2D&gt;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FrameBufferInfo view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resize / texture query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non-copyable ownership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3246120"/>
            <a:ext cx="640080" cy="0"/>
          </a:xfrm>
          <a:prstGeom prst="line">
            <a:avLst/>
          </a:prstGeom>
          <a:noFill/>
          <a:ln w="17780">
            <a:solidFill>
              <a:srgbClr val="21D4FD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5349240"/>
            <a:ext cx="2560320" cy="310896"/>
          </a:xfrm>
          <a:prstGeom prst="roundRect">
            <a:avLst>
              <a:gd name="adj" fmla="val 23529"/>
            </a:avLst>
          </a:prstGeom>
          <a:solidFill>
            <a:srgbClr val="FF6B7A">
              <a:alpha val="18000"/>
            </a:srgbClr>
          </a:solidFill>
          <a:ln w="12700">
            <a:solidFill>
              <a:srgbClr val="FF6B7A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5404104"/>
            <a:ext cx="2414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7A"/>
                </a:solidFill>
              </a:rPr>
              <a:t>删除 10+ 裸纹理所有权字段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703320" y="5349240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21D4FD">
              <a:alpha val="18000"/>
            </a:srgbClr>
          </a:solidFill>
          <a:ln w="12700">
            <a:solidFill>
              <a:srgbClr val="21D4FD">
                <a:alpha val="6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76472" y="5404104"/>
            <a:ext cx="22768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D4FD"/>
                </a:solidFill>
              </a:rPr>
              <a:t>Bloom 使用实际 Mip 尺寸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0" y="5349240"/>
            <a:ext cx="233172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5404104"/>
            <a:ext cx="21854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显式注入 RenderContext&amp;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006840" y="5349240"/>
            <a:ext cx="246888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79992" y="5404104"/>
            <a:ext cx="23225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为 RenderTargetPool 打基础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11  本阶段升级：Bounds 与 RenderQueue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把“场景里有什么”转换成“这一帧真正需要画什么”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103120" cy="822960"/>
          </a:xfrm>
          <a:prstGeom prst="roundRect">
            <a:avLst>
              <a:gd name="adj" fmla="val 5556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MeshAsset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CPU Geometry + Local Bounds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971800" y="1417320"/>
            <a:ext cx="2057400" cy="822960"/>
          </a:xfrm>
          <a:prstGeom prst="roundRect">
            <a:avLst>
              <a:gd name="adj" fmla="val 5556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63240" y="15087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 Instance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World Matrix + Resource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94960" y="1417320"/>
            <a:ext cx="2103120" cy="822960"/>
          </a:xfrm>
          <a:prstGeom prst="roundRect">
            <a:avLst>
              <a:gd name="adj" fmla="val 5556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0" y="1508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RenderQueueBuilder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World Bounds + Frustum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3840" y="1417320"/>
            <a:ext cx="1691640" cy="822960"/>
          </a:xfrm>
          <a:prstGeom prst="roundRect">
            <a:avLst>
              <a:gd name="adj" fmla="val 5556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0" y="150876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RenderItem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Frame Snapshot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921240" y="1417320"/>
            <a:ext cx="1828800" cy="822960"/>
          </a:xfrm>
          <a:prstGeom prst="roundRect">
            <a:avLst>
              <a:gd name="adj" fmla="val 5556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12680" y="1508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RenderQueue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Shadow / Opaque / Transparent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06040" y="1828800"/>
            <a:ext cx="32004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029200" y="1828800"/>
            <a:ext cx="32004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498080" y="1828800"/>
            <a:ext cx="32004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555480" y="1828800"/>
            <a:ext cx="32004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94360" y="278892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88920"/>
            <a:ext cx="54864" cy="196596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2953512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Bounds 与内存优化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5528" y="3355848"/>
            <a:ext cx="3063240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Assimp 导入时计算 local AABB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实例不再复制 vertices / indices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worldBounds = localBounds × worldMatrix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为裁剪、LOD、调试统一数据来源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70832" y="278892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70832" y="2788920"/>
            <a:ext cx="54864" cy="196596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2953512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裁剪与排序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0" y="3355848"/>
            <a:ext cx="3063240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ViewProjection 提取六个平面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AABB Frustum Culling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Opaque：Shader → Material → Mesh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Transparent：距离从远到近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38160" y="278892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2788920"/>
            <a:ext cx="54864" cy="196596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2953512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Pass 消费队列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39328" y="3355848"/>
            <a:ext cx="3063240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Shadow Pass：shadowCasters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PBR Pass：opaqueItems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透明阶段关闭深度写入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无方向光仍执行 IBL / Point / Emissive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14400" y="5230368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5285232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submitted = 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0" y="5230368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16352" y="5285232"/>
            <a:ext cx="1271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visible = 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34840" y="5230368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6B7A">
              <a:alpha val="18000"/>
            </a:srgbClr>
          </a:solidFill>
          <a:ln w="12700">
            <a:solidFill>
              <a:srgbClr val="FF6B7A">
                <a:alpha val="6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7992" y="5285232"/>
            <a:ext cx="1271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7A"/>
                </a:solidFill>
              </a:rPr>
              <a:t>culled = 1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26480" y="5230368"/>
            <a:ext cx="169164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99632" y="5285232"/>
            <a:ext cx="15453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10288 triangles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092440" y="5230368"/>
            <a:ext cx="1691640" cy="310896"/>
          </a:xfrm>
          <a:prstGeom prst="roundRect">
            <a:avLst>
              <a:gd name="adj" fmla="val 23529"/>
            </a:avLst>
          </a:prstGeom>
          <a:solidFill>
            <a:srgbClr val="B78CFF">
              <a:alpha val="18000"/>
            </a:srgbClr>
          </a:solidFill>
          <a:ln w="12700">
            <a:solidFill>
              <a:srgbClr val="B78CFF">
                <a:alpha val="6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65592" y="5285232"/>
            <a:ext cx="15453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8CFF"/>
                </a:solidFill>
              </a:rPr>
              <a:t>1× GPU Upload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12  项目中的 C++ 核心知识点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语言特性不是孤立技巧，而是用来表达所有权、依赖和数据边界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66928" y="12344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34440"/>
            <a:ext cx="54864" cy="192024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99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RAII / unique_ptr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80136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RenderTarget 独占 attachment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Renderer 独占子系统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析构自动释放 GPU wrapper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禁止复制表达唯一所有权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25112" y="12344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5112" y="1234440"/>
            <a:ext cx="54864" cy="192024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399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shared_ptr / Cache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180136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ModelAsset、MaterialAsset、Texture2D 跨系统共享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AssetManager 保持缓存生命周期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实例只保存共享引用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83296" y="12344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83296" y="1234440"/>
            <a:ext cx="54864" cy="192024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4464" y="1399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引用与依赖注入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84464" y="180136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RenderContext&amp; / AssetManager&amp;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依赖必须存在但不归本对象所有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减少 singleton，提升可测试性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47472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3474720"/>
            <a:ext cx="54864" cy="192024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36393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模板 + Lambda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8096" y="404164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RenderGraph::addPass&lt;T, Fn&gt;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保存不同参数和执行函数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统一通过虚函数 execute 调用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25112" y="347472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5112" y="3474720"/>
            <a:ext cx="54864" cy="192024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36393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多态与抽象接口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26280" y="404164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RenderContext → OpenGLRenderContext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Light → Direction / Point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为替换后端和扩展类型保留边界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83296" y="347472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83296" y="3474720"/>
            <a:ext cx="54864" cy="19202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4464" y="36393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STL 与数据结构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84464" y="404164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vector：对象/顶点/pass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unordered_map：资源缓存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array：固定 Bloom mip 链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move：转移资源所有权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13  可诊断性与验证体系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目标：程序失败时直接看到原因，而不是只得到黑屏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94360" y="1325880"/>
            <a:ext cx="3383280" cy="1965960"/>
          </a:xfrm>
          <a:prstGeom prst="roundRect">
            <a:avLst>
              <a:gd name="adj" fmla="val 2791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25880"/>
            <a:ext cx="54864" cy="196596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49047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日志系统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5528" y="1892808"/>
            <a:ext cx="3017520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控制台 + logs/engine.log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INFO / WARN / ERROR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资源路径、缓存命中、模型统计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启动与关闭生命周期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07408" y="1325880"/>
            <a:ext cx="3383280" cy="1965960"/>
          </a:xfrm>
          <a:prstGeom prst="roundRect">
            <a:avLst>
              <a:gd name="adj" fmla="val 2791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07408" y="1325880"/>
            <a:ext cx="54864" cy="196596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8576" y="149047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GPU 错误定位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08576" y="1892808"/>
            <a:ext cx="3017520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Shader 编译/链接 info log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源代码行号预览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Framebuffer completeness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OpenGL Debug Callback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11312" y="1325880"/>
            <a:ext cx="3383280" cy="1965960"/>
          </a:xfrm>
          <a:prstGeom prst="roundRect">
            <a:avLst>
              <a:gd name="adj" fmla="val 2791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1312" y="1325880"/>
            <a:ext cx="54864" cy="196596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49047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构建部署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0" y="1892808"/>
            <a:ext cx="3017520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Debug / Release 双配置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Assimp DLL 自动复制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CMake 重新配置纳入新源码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运行时依赖检查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" y="3794760"/>
            <a:ext cx="11000232" cy="1508760"/>
          </a:xfrm>
          <a:prstGeom prst="roundRect">
            <a:avLst/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507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45A"/>
                </a:solidFill>
              </a:rPr>
              <a:t>本轮验证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920240" y="3950208"/>
            <a:ext cx="905256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67640" indent="-167640">
              <a:buSzPct val="100000"/>
              <a:buChar char="•"/>
            </a:pPr>
            <a:r>
              <a:rPr lang="en-US" sz="1100" dirty="0">
                <a:solidFill>
                  <a:srgbClr val="E9F2FF"/>
                </a:solidFill>
              </a:rPr>
              <a:t>Debug / Release 构建通过</a:t>
            </a:r>
            <a:endParaRPr lang="en-US" sz="1100" dirty="0"/>
          </a:p>
          <a:p>
            <a:pPr marL="167640" indent="-167640">
              <a:buSzPct val="100000"/>
              <a:buChar char="•"/>
            </a:pPr>
            <a:r>
              <a:rPr lang="en-US" sz="1100" dirty="0">
                <a:solidFill>
                  <a:srgbClr val="E9F2FF"/>
                </a:solidFill>
              </a:rPr>
              <a:t>默认场景与模型专项测试各运行 8 秒</a:t>
            </a:r>
            <a:endParaRPr lang="en-US" sz="1100" dirty="0"/>
          </a:p>
          <a:p>
            <a:pPr marL="167640" indent="-167640">
              <a:buSzPct val="100000"/>
              <a:buChar char="•"/>
            </a:pPr>
            <a:r>
              <a:rPr lang="en-US" sz="1100" dirty="0">
                <a:solidFill>
                  <a:srgbClr val="E9F2FF"/>
                </a:solidFill>
              </a:rPr>
              <a:t>RenderQueue：2 提交 / 1 可见 / 1 裁剪</a:t>
            </a:r>
            <a:endParaRPr lang="en-US" sz="1100" dirty="0"/>
          </a:p>
          <a:p>
            <a:pPr marL="167640" indent="-167640">
              <a:buSzPct val="100000"/>
              <a:buChar char="•"/>
            </a:pPr>
            <a:r>
              <a:rPr lang="en-US" sz="1100" dirty="0">
                <a:solidFill>
                  <a:srgbClr val="E9F2FF"/>
                </a:solidFill>
              </a:rPr>
              <a:t>同模型双实例只上传一份 MeshResource</a:t>
            </a:r>
            <a:endParaRPr lang="en-US" sz="1100" dirty="0"/>
          </a:p>
          <a:p>
            <a:pPr marL="167640" indent="-167640">
              <a:buSzPct val="100000"/>
              <a:buChar char="•"/>
            </a:pPr>
            <a:r>
              <a:rPr lang="en-US" sz="1100" dirty="0">
                <a:solidFill>
                  <a:srgbClr val="E9F2FF"/>
                </a:solidFill>
              </a:rPr>
              <a:t>无 Shader / FBO / 高优先级 GL 错误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562356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已知非功能警告：驱动提示 Vertex Shader 会根据 GL State 重新编译；后续通过 Pipeline State 规范化继续优化。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14  当前问题与演进路线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P0 / P1 已完成，下一阶段进入 Shader Technique 与热重载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993392" cy="2971800"/>
          </a:xfrm>
          <a:prstGeom prst="roundRect">
            <a:avLst/>
          </a:prstGeom>
          <a:solidFill>
            <a:srgbClr val="0F1C2E"/>
          </a:solidFill>
          <a:ln w="17780">
            <a:solidFill>
              <a:srgbClr val="5EE2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276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2A0"/>
                </a:solidFill>
              </a:rPr>
              <a:t>P0 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MeshResource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852928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共享 VAO/VBO/IBO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消除多实例重复上传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78608" y="2889504"/>
            <a:ext cx="256032" cy="0"/>
          </a:xfrm>
          <a:prstGeom prst="line">
            <a:avLst/>
          </a:prstGeom>
          <a:noFill/>
          <a:ln w="17780">
            <a:solidFill>
              <a:srgbClr val="5EE2A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80360" y="1417320"/>
            <a:ext cx="1993392" cy="2971800"/>
          </a:xfrm>
          <a:prstGeom prst="roundRect">
            <a:avLst/>
          </a:prstGeom>
          <a:solidFill>
            <a:srgbClr val="0F1C2E"/>
          </a:solidFill>
          <a:ln w="17780">
            <a:solidFill>
              <a:srgbClr val="5EE2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4952" y="16276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2A0"/>
                </a:solidFill>
              </a:rPr>
              <a:t>P1 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044952" y="212140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Render Queue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44952" y="2852928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RenderItem + Bounds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视锥裁剪 + 状态排序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92040" y="2889504"/>
            <a:ext cx="256032" cy="0"/>
          </a:xfrm>
          <a:prstGeom prst="line">
            <a:avLst/>
          </a:prstGeom>
          <a:noFill/>
          <a:ln w="17780">
            <a:solidFill>
              <a:srgbClr val="5EE2A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93792" y="1417320"/>
            <a:ext cx="1993392" cy="2971800"/>
          </a:xfrm>
          <a:prstGeom prst="roundRect">
            <a:avLst/>
          </a:prstGeom>
          <a:solidFill>
            <a:srgbClr val="0F1C2E"/>
          </a:solidFill>
          <a:ln w="17780">
            <a:solidFill>
              <a:srgbClr val="5EE2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58384" y="16276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2A0"/>
                </a:solidFill>
              </a:rPr>
              <a:t>P2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58384" y="212140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Shader System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58384" y="2852928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外置源码 / Technique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Variant + Hot Reload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05472" y="2889504"/>
            <a:ext cx="256032" cy="0"/>
          </a:xfrm>
          <a:prstGeom prst="line">
            <a:avLst/>
          </a:prstGeom>
          <a:noFill/>
          <a:ln w="17780">
            <a:solidFill>
              <a:srgbClr val="5EE2A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07224" y="1417320"/>
            <a:ext cx="1993392" cy="2971800"/>
          </a:xfrm>
          <a:prstGeom prst="roundRect">
            <a:avLst/>
          </a:prstGeom>
          <a:solidFill>
            <a:srgbClr val="0F1C2E"/>
          </a:solidFill>
          <a:ln w="17780">
            <a:solidFill>
              <a:srgbClr val="21D4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71816" y="16276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D4FD"/>
                </a:solidFill>
              </a:rPr>
              <a:t>P3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671816" y="212140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RenderGraph 2.0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71816" y="2852928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资源读写依赖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自动排序 + TargetPool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518904" y="2889504"/>
            <a:ext cx="256032" cy="0"/>
          </a:xfrm>
          <a:prstGeom prst="line">
            <a:avLst/>
          </a:prstGeom>
          <a:noFill/>
          <a:ln w="17780">
            <a:solidFill>
              <a:srgbClr val="21D4FD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820656" y="1417320"/>
            <a:ext cx="1993392" cy="2971800"/>
          </a:xfrm>
          <a:prstGeom prst="roundRect">
            <a:avLst/>
          </a:prstGeom>
          <a:solidFill>
            <a:srgbClr val="0F1C2E"/>
          </a:solidFill>
          <a:ln w="17780">
            <a:solidFill>
              <a:srgbClr val="B78C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85248" y="16276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78CFF"/>
                </a:solidFill>
              </a:rPr>
              <a:t>P4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985248" y="212140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Advanced Rendering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985248" y="2852928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CSM / Skin / Alpha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SSAO / TAA / Profiler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8368" y="484632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" y="4846320"/>
            <a:ext cx="54864" cy="96012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" y="501091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架构债务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9536" y="5413248"/>
            <a:ext cx="5029200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Scene/GameObject 裸指针 · RenderContext singleton · ShaderCode.cpp 硬编码 · CMake GLOB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63640" y="4846320"/>
            <a:ext cx="5257800" cy="960120"/>
          </a:xfrm>
          <a:prstGeom prst="roundRect">
            <a:avLst>
              <a:gd name="adj" fmla="val 5714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3640" y="4846320"/>
            <a:ext cx="54864" cy="96012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64808" y="5010912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画面能力缺口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64808" y="5413248"/>
            <a:ext cx="4892040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CSM · glTF Alpha/Transmission/Skin · SSAO/TAA · GPU Profiler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686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F2FF"/>
                </a:solidFill>
              </a:rPr>
              <a:t>Render Engine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6916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1D4FD"/>
                </a:solidFill>
              </a:rPr>
              <a:t>从“能画出来”走向“能持续演进”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8368" y="274320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2743200"/>
            <a:ext cx="54864" cy="187452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9077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已经建立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9536" y="3310128"/>
            <a:ext cx="301752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资源缓存与 Asset 拆分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PBR + IBL + Shadow + HDR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Renderer / Scene / Material 边界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日志与运行时诊断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07408" y="274320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07408" y="2743200"/>
            <a:ext cx="54864" cy="187452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8576" y="29077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本轮推进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08576" y="3310128"/>
            <a:ext cx="301752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共享 GPU MeshResource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Bounds 与 CPU 内存优化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RenderQueue / 视锥裁剪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透明分类与渲染统计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56448" y="274320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56448" y="2743200"/>
            <a:ext cx="54864" cy="187452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57616" y="29077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下一目标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57616" y="3310128"/>
            <a:ext cx="301752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Shader 外置文件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Technique / ShaderPass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Variant + Hot Reload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RenderGraph 资源依赖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05840" y="5440680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F2FF"/>
                </a:solidFill>
              </a:rPr>
              <a:t>核心判断：架构的价值不是类更多，而是每个对象只负责一类变化。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Personal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 Engine 项目总结</dc:title>
  <dc:subject>项目功能、架构思路与 C++ 知识点总结</dc:subject>
  <dc:creator>Render Engine Project</dc:creator>
  <cp:lastModifiedBy>Render Engine Project</cp:lastModifiedBy>
  <cp:revision>1</cp:revision>
  <dcterms:created xsi:type="dcterms:W3CDTF">2026-08-12T12:11:13Z</dcterms:created>
  <dcterms:modified xsi:type="dcterms:W3CDTF">2026-08-12T12:11:13Z</dcterms:modified>
</cp:coreProperties>
</file>